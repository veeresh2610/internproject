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300" b="1">
                <a:solidFill>
                  <a:srgbClr val="14B8A6"/>
                </a:solidFill>
                <a:latin typeface="Segoe UI"/>
              </a:defRPr>
            </a:pPr>
            <a:r>
              <a:t>ACADEMIC WEB MODULES &amp; SYSTEMS</a:t>
            </a:r>
          </a:p>
          <a:p>
            <a:pPr>
              <a:spcAft>
                <a:spcPts val="2000"/>
              </a:spcAft>
              <a:defRPr sz="4000" b="1">
                <a:solidFill>
                  <a:srgbClr val="F8FAFC"/>
                </a:solidFill>
                <a:latin typeface="Segoe UI"/>
              </a:defRPr>
            </a:pPr>
            <a:r>
              <a:t>IonERP: System Implementation</a:t>
            </a:r>
            <a:br/>
            <a:r>
              <a:t>&amp; Quality Validations</a:t>
            </a:r>
          </a:p>
          <a:p>
            <a:pPr>
              <a:defRPr sz="1400">
                <a:solidFill>
                  <a:srgbClr val="CBD5E1"/>
                </a:solidFill>
                <a:latin typeface="Segoe UI"/>
              </a:defRPr>
            </a:pPr>
            <a:r>
              <a:t>Detailed inspection of project modules, dynamic form validation schemas (Zod &amp; React Custom States), and verification test cases with sample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IONERP PLATFORM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Project Technical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4389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B8A6"/>
                </a:solidFill>
                <a:latin typeface="Segoe UI"/>
              </a:defRPr>
            </a:pPr>
            <a:r>
              <a:t>FRONT-END &amp; VIEWS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Core Framework: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  React 18 configured with TypeScript. Strict typing ensures compiler-level checks for component states and server payload contracts.</a:t>
            </a:r>
          </a:p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UI Layouts &amp; Styling: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  Tailwind CSS delivers high-fidelity utility-first styling. Reusable icons from Lucide React, React Icons (Fa, Fi) maintain visual consistency.</a:t>
            </a:r>
          </a:p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Grid Displays &amp; Lists: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  AG Grid React tables manage complex grids with sorting, filtering, and page layouts, augmented by custom React-state datatables.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73152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VALIDATION &amp; STATE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7548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Form Handling &amp; Schema Validations: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  React Hook Form drives seamless user form submissions, utilizing Zod resolver schemas. Validates text structures, formats, and numerical values on the client side.</a:t>
            </a:r>
          </a:p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Network &amp; API Interceptors: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  Axios wrapper using custom hook (useAxios) intercepts requests and manages dynamic spinner states, header authentication, and API error toasts.</a:t>
            </a:r>
          </a:p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Notification System: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  React Toastify serves clear feedback upon successful form operations or validation failures.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Authentication &amp; Password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4389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B8A6"/>
                </a:solidFill>
                <a:latin typeface="Segoe UI"/>
              </a:defRPr>
            </a:pPr>
            <a:r>
              <a:t>IMPLEMENTATION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Components: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  - LoginPage (loginPage.tsx): Secure portal layout.</a:t>
            </a:r>
            <a:br/>
            <a:r>
              <a:t>  - ForgotPasswordPage (forgotPassword.tsx): Recovery form.</a:t>
            </a:r>
            <a:br/>
            <a:r>
              <a:t>  - ChangePasswordPage (changepassword.tsx): Profile-level credentials updates.</a:t>
            </a:r>
          </a:p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Dynamic Zod Schema Validation: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  Schemas are imported from lmsSchema.ts. They govern character limits, alphanumeric formatting rules, and strict string refinement functions on password confirm forms.</a:t>
            </a:r>
          </a:p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Key Rules Configured: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  - Username: Min 3, Max 50. Must fit alphanumeric or email syntax.</a:t>
            </a:r>
            <a:br/>
            <a:r>
              <a:t>  - Password: Min 8, Max 50 characters.</a:t>
            </a:r>
            <a:br/>
            <a:r>
              <a:t>  - Password Match: Custom Zod refine validation check.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73152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VALIDATIONS &amp; QUALITY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7548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F8FAFC"/>
                </a:solidFill>
              </a:defRPr>
            </a:pPr>
            <a:r>
              <a:t>• Target Test Cases:</a:t>
            </a:r>
          </a:p>
          <a:p>
            <a:pPr>
              <a:spcAft>
                <a:spcPts val="200"/>
              </a:spcAft>
              <a:defRPr b="1" sz="1200">
                <a:solidFill>
                  <a:srgbClr val="10B981"/>
                </a:solidFill>
              </a:defRPr>
            </a:pPr>
            <a:r>
              <a:t>  TC-AUTH-01: Length Constraint Validation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</a:defRPr>
            </a:pPr>
            <a:r>
              <a:t>  - Test Action: Input username 'admin_mentor' and password '123' (too short).</a:t>
            </a:r>
            <a:br/>
            <a:r>
              <a:t>  - Expected Validation Feedback: The form blocks API trigger. Message 'Password must be at least 8 characters' displays in red under the password input box.</a:t>
            </a:r>
          </a:p>
          <a:p>
            <a:pPr>
              <a:spcAft>
                <a:spcPts val="200"/>
              </a:spcAft>
              <a:defRPr b="1" sz="1200">
                <a:solidFill>
                  <a:srgbClr val="10B981"/>
                </a:solidFill>
              </a:defRPr>
            </a:pPr>
            <a:r>
              <a:t>  TC-AUTH-02: Password Confirmation Match Check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- Test Action: Change password form. Enter New Password 'SecurePass123' and Confirm Password 'SecurePass124' (mismatch).</a:t>
            </a:r>
            <a:br/>
            <a:r>
              <a:t>  - Expected Validation Feedback: Form blocks update request. Refine schema returns: 'Passwords must match' under the Confirm Password input field.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Department Configurations (Mentoring Setup)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4389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B8A6"/>
                </a:solidFill>
                <a:latin typeface="Segoe UI"/>
              </a:defRPr>
            </a:pPr>
            <a:r>
              <a:t>IMPLEMENTATION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Purpose: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  Faculty members belonging to the host department are mentors by default. This page (DeptConfigurationPage.tsx) maps cross-department faculty to act as mentors in the host department for specific curricula.</a:t>
            </a:r>
          </a:p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Implementation Flow: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  - System checks the active department ID on load.</a:t>
            </a:r>
            <a:br/>
            <a:r>
              <a:t>  - Dropdown retrieves foreign departments and active curriculum IDs.</a:t>
            </a:r>
            <a:br/>
            <a:r>
              <a:t>  - Selecting a department dynamically queries the user endpoint to populate the Faculty checklist.</a:t>
            </a:r>
          </a:p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Relevant Mock Data: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  - Host Dept: Biotechnology | Guest Dept: Computer Science (dept_id: 2)</a:t>
            </a:r>
            <a:br/>
            <a:r>
              <a:t>  - Guest Faculty: Dr. Ameen (user_id: 104)</a:t>
            </a:r>
            <a:br/>
            <a:r>
              <a:t>  - Target Curriculum: B. E in BT 2015-2019 (crclm_id: 15)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73152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VALIDATIONS &amp; QUALITY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7548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F8FAFC"/>
                </a:solidFill>
              </a:defRPr>
            </a:pPr>
            <a:r>
              <a:t>• Target Test Cases:</a:t>
            </a:r>
          </a:p>
          <a:p>
            <a:pPr>
              <a:spcAft>
                <a:spcPts val="200"/>
              </a:spcAft>
              <a:defRPr b="1" sz="1200">
                <a:solidFill>
                  <a:srgbClr val="10B981"/>
                </a:solidFill>
              </a:defRPr>
            </a:pPr>
            <a:r>
              <a:t>  TC-DEPT-01: Empty Submission Interception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</a:defRPr>
            </a:pPr>
            <a:r>
              <a:t>  - Test Action: Navigate to Add Mentor section, leave Department and User unselected, and click Save.</a:t>
            </a:r>
            <a:br/>
            <a:r>
              <a:t>  - Expected Validation Feedback: The handleSave hook triggers validateForm(). Form errors state updates: { dept: 'Department is required', user: 'User is required', curriculum: 'Curriculum is required' }. Action is blocked; text borders highlight in red.</a:t>
            </a:r>
          </a:p>
          <a:p>
            <a:pPr>
              <a:spcAft>
                <a:spcPts val="200"/>
              </a:spcAft>
              <a:defRPr b="1" sz="1200">
                <a:solidFill>
                  <a:srgbClr val="10B981"/>
                </a:solidFill>
              </a:defRPr>
            </a:pPr>
            <a:r>
              <a:t>  TC-DEPT-02: Dynamic Faculty Loading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- Test Action: Select 'Computer Science' department in the dropdown.</a:t>
            </a:r>
            <a:br/>
            <a:r>
              <a:t>  - Expected Validation Feedback: useEffect hook registers dept change, fires API request for CSE users, clears previous user list, and shows spinner. Populates list with CSE faculty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Questionnaire Templates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4389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B8A6"/>
                </a:solidFill>
                <a:latin typeface="Segoe UI"/>
              </a:defRPr>
            </a:pPr>
            <a:r>
              <a:t>IMPLEMENTATION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Purpose: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  Provides templates (QuestionnairePage.tsx) for mentors to gather student self-assessments or verify academic/non-academic skill gaps. Templates store a variable list of question blocks.</a:t>
            </a:r>
          </a:p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Questionnaire Design Features: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  - Multi-Block Structure: Creators add any number of question blocks.</a:t>
            </a:r>
            <a:br/>
            <a:r>
              <a:t>  - Question type options: Single Select, Multiple Select, Open Ended.</a:t>
            </a:r>
            <a:br/>
            <a:r>
              <a:t>  - Questionnaire categories: Self-Assessment, Skills Audit.</a:t>
            </a:r>
          </a:p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Relevant Mock Data: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  - Title: 'Term 1 Personal Development Audit'</a:t>
            </a:r>
            <a:br/>
            <a:r>
              <a:t>  - Category: 'Self Assessment/Personal questionnaire'</a:t>
            </a:r>
            <a:br/>
            <a:r>
              <a:t>  - Question 1: 'How do you rate the learning environment?' (Type: Single Select | Options: Satisfied, Dissatisfied)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73152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VALIDATIONS &amp; QUALITY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7548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F8FAFC"/>
                </a:solidFill>
              </a:defRPr>
            </a:pPr>
            <a:r>
              <a:t>• Target Test Cases:</a:t>
            </a:r>
          </a:p>
          <a:p>
            <a:pPr>
              <a:spcAft>
                <a:spcPts val="200"/>
              </a:spcAft>
              <a:defRPr b="1" sz="1200">
                <a:solidFill>
                  <a:srgbClr val="10B981"/>
                </a:solidFill>
              </a:defRPr>
            </a:pPr>
            <a:r>
              <a:t>  TC-QUEST-01: Empty Title Validation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</a:defRPr>
            </a:pPr>
            <a:r>
              <a:t>  - Test Action: Select 'Create Questionnaire', fill in questions, but leave the main Questionnaire Title field empty. Click Save.</a:t>
            </a:r>
            <a:br/>
            <a:r>
              <a:t>  - Expected Validation Feedback: The submission handler intercepts the missing field. Sets titleError state to 'Questionnaire title is required'. Form blocks save action and displays red alert label near the top input.</a:t>
            </a:r>
          </a:p>
          <a:p>
            <a:pPr>
              <a:spcAft>
                <a:spcPts val="200"/>
              </a:spcAft>
              <a:defRPr b="1" sz="1200">
                <a:solidFill>
                  <a:srgbClr val="10B981"/>
                </a:solidFill>
              </a:defRPr>
            </a:pPr>
            <a:r>
              <a:t>  TC-QUEST-02: Missing Question Type or Content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- Test Action: Create questionnaire, add a block, but leave Question Text and Question Type unselected. Click Save.</a:t>
            </a:r>
            <a:br/>
            <a:r>
              <a:t>  - Expected Validation Feedback: Form traverses all blocks, finds empty values in block #1, sets typeError and textError states. Highlights the problematic block in red with feedback messages.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Mentor-Mentee Mapping &amp; Groups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4389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B8A6"/>
                </a:solidFill>
                <a:latin typeface="Segoe UI"/>
              </a:defRPr>
            </a:pPr>
            <a:r>
              <a:t>IMPLEMENTATION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Purpose: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  Enables creation of mentoring groups (MapMentorMenteePage.tsx). Organizes mentees (students) under selected faculty mentors, binding them to a specific curriculum, term, configuration, and evaluation questionnaire.</a:t>
            </a:r>
          </a:p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Configuration Parameters: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  - Group Title: Friendly identifier (e.g. 'CSE Group A').</a:t>
            </a:r>
            <a:br/>
            <a:r>
              <a:t>  - Applicable Terms: Binding semesters (e.g. 'Term 1').</a:t>
            </a:r>
            <a:br/>
            <a:r>
              <a:t>  - Config Type &amp; Questionnaire: Structural framework bindings.</a:t>
            </a:r>
          </a:p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Relevant Mock Data: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  - Curriculum: B. E in BT 2015-2019 | Title: 'BT Mentoring Group C'</a:t>
            </a:r>
            <a:br/>
            <a:r>
              <a:t>  - Config: 'ECE Config type 1' | Term: 'Term 1'</a:t>
            </a:r>
            <a:br/>
            <a:r>
              <a:t>  - Mentors checklist: Check 'Dr. Ameen' and 'Mr. C J Savanurmat'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73152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VALIDATIONS &amp; QUALITY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7548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F8FAFC"/>
                </a:solidFill>
              </a:defRPr>
            </a:pPr>
            <a:r>
              <a:t>• Target Test Cases:</a:t>
            </a:r>
          </a:p>
          <a:p>
            <a:pPr>
              <a:spcAft>
                <a:spcPts val="200"/>
              </a:spcAft>
              <a:defRPr b="1" sz="1200">
                <a:solidFill>
                  <a:srgbClr val="10B981"/>
                </a:solidFill>
              </a:defRPr>
            </a:pPr>
            <a:r>
              <a:t>  TC-MAP-01: Save Group Without Mentors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</a:defRPr>
            </a:pPr>
            <a:r>
              <a:t>  - Test Action: Fill in Group Title 'BT Group C', select Term, Config Type, and Questionnaire, but keep all mentor checkboxes unchecked. Click Save.</a:t>
            </a:r>
            <a:br/>
            <a:r>
              <a:t>  - Expected Validation Feedback: The save handler runs validations. Scans selectedMentors length. Finds length == 0. Sets validation error alert. Action is aborted; toast error appears: 'Please select at least one mentor'.</a:t>
            </a:r>
          </a:p>
          <a:p>
            <a:pPr>
              <a:spcAft>
                <a:spcPts val="200"/>
              </a:spcAft>
              <a:defRPr b="1" sz="1200">
                <a:solidFill>
                  <a:srgbClr val="10B981"/>
                </a:solidFill>
              </a:defRPr>
            </a:pPr>
            <a:r>
              <a:t>  TC-MAP-02: Missing Basic Configurations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- Test Action: Leave Group Title input blank. Select mentors. Click Save.</a:t>
            </a:r>
            <a:br/>
            <a:r>
              <a:t>  - Expected Validation Feedback: Validation mapping catches the missing title, sets addErrors['groupTitle'] = 'Group Title is required'. Highlight border flashes around input.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Mentoring Session Scheduling &amp; Logs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4389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B8A6"/>
                </a:solidFill>
                <a:latin typeface="Segoe UI"/>
              </a:defRPr>
            </a:pPr>
            <a:r>
              <a:t>IMPLEMENTATION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Purpose: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  The operational core (MentoringSessionPage.tsx) where scheduled slots are maintained, student attendance is taken, and questionnaire sheets are answered by mentors on behalf of mentees.</a:t>
            </a:r>
          </a:p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Core Session Operations: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  - Sub-group Slots: Set date, start/end times, and physical/virtual URL location.</a:t>
            </a:r>
            <a:br/>
            <a:r>
              <a:t>  - Attendance: Checkboxes indicating attendance.</a:t>
            </a:r>
            <a:br/>
            <a:r>
              <a:t>  - Notes &amp; Files: Upload counseling files and enter summary notes.</a:t>
            </a:r>
          </a:p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Relevant Mock Data: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  - Agenda: 'Mid-term Performance Review'</a:t>
            </a:r>
            <a:br/>
            <a:r>
              <a:t>  - Date/Time: 2026-07-15 from 10:00 AM to 11:30 AM</a:t>
            </a:r>
            <a:br/>
            <a:r>
              <a:t>  - Sub-Group: 'Subgroup A1' (Mentees: Abhishek, Anjana)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73152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VALIDATIONS &amp; QUALITY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7548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F8FAFC"/>
                </a:solidFill>
              </a:defRPr>
            </a:pPr>
            <a:r>
              <a:t>• Target Test Cases:</a:t>
            </a:r>
          </a:p>
          <a:p>
            <a:pPr>
              <a:spcAft>
                <a:spcPts val="200"/>
              </a:spcAft>
              <a:defRPr b="1" sz="1200">
                <a:solidFill>
                  <a:srgbClr val="10B981"/>
                </a:solidFill>
              </a:defRPr>
            </a:pPr>
            <a:r>
              <a:t>  TC-SESS-01: Time Chronology Check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</a:defRPr>
            </a:pPr>
            <a:r>
              <a:t>  - Test Action: Schedule a session slot, enter Start Time as '11:00 AM' and End Time as '10:00 AM' (chronological reversal). Click Save.</a:t>
            </a:r>
            <a:br/>
            <a:r>
              <a:t>  - Expected Validation Feedback: The script parses time, detects negative duration. Blocks API trigger, and shows warning toast: 'End time must be after start time'.</a:t>
            </a:r>
          </a:p>
          <a:p>
            <a:pPr>
              <a:spcAft>
                <a:spcPts val="200"/>
              </a:spcAft>
              <a:defRPr b="1" sz="1200">
                <a:solidFill>
                  <a:srgbClr val="10B981"/>
                </a:solidFill>
              </a:defRPr>
            </a:pPr>
            <a:r>
              <a:t>  TC-SESS-02: Missing Session Agenda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- Test Action: Complete slots and sub-groups, leave agenda text box empty. Save.</a:t>
            </a:r>
            <a:br/>
            <a:r>
              <a:t>  - Expected Validation Feedback: Intercepted by check. Displays: 'Agenda is required' under the editor window.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MODULE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EMS Department Master Configurations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4389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B8A6"/>
                </a:solidFill>
                <a:latin typeface="Segoe UI"/>
              </a:defRPr>
            </a:pPr>
            <a:r>
              <a:t>IMPLEMENTATION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Purpose: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  Configures the master department database within IonEMS (departmentPage.tsx). Uses a Dynamic Form Builder driven by schemas to ensure consistent properties and grid display schema definitions.</a:t>
            </a:r>
          </a:p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Schema Definitions (departmentSchema.tsx):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  - SchemaFields: Defines input fields (dept_name, acronym, code, description) with metadata (type: text, required: true).</a:t>
            </a:r>
            <a:br/>
            <a:r>
              <a:t>  - SchemaColumnDefs: Grid definitions for AG Grid headers.</a:t>
            </a:r>
          </a:p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Zod Validation Rule (z.object):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  dept_name, dept_acronym, dept_code_usn, dept_description must have length &gt;= 1: z.string().min(1, { message: '...' })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73152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VALIDATIONS &amp; QUALITY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7548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F8FAFC"/>
                </a:solidFill>
              </a:defRPr>
            </a:pPr>
            <a:r>
              <a:t>• Target Test Cases:</a:t>
            </a:r>
          </a:p>
          <a:p>
            <a:pPr>
              <a:spcAft>
                <a:spcPts val="200"/>
              </a:spcAft>
              <a:defRPr b="1" sz="1200">
                <a:solidFill>
                  <a:srgbClr val="10B981"/>
                </a:solidFill>
              </a:defRPr>
            </a:pPr>
            <a:r>
              <a:t>  TC-EMS-01: Blank Fields Zod Interception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</a:defRPr>
            </a:pPr>
            <a:r>
              <a:t>  - Test Action: Attempt to submit Department form blank.</a:t>
            </a:r>
            <a:br/>
            <a:r>
              <a:t>  - Expected Validation Feedback: React Hook Form intercepts submit. Zod resolver fires and returns validation errors. Dynamic Form Builder parses errors state and maps them as labels: 'Department Name is required', 'Department Acronym is required', etc. under matching boxes.</a:t>
            </a:r>
          </a:p>
          <a:p>
            <a:pPr>
              <a:spcAft>
                <a:spcPts val="200"/>
              </a:spcAft>
              <a:defRPr b="1" sz="1200">
                <a:solidFill>
                  <a:srgbClr val="10B981"/>
                </a:solidFill>
              </a:defRPr>
            </a:pPr>
            <a:r>
              <a:t>  TC-EMS-02: Complete Valid Submission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- Test Action: Input Name 'Information Science', Acronym 'ISE', USN 'ISE01', Description 'ISE Dept'. Save.</a:t>
            </a:r>
            <a:br/>
            <a:r>
              <a:t>  - Expected Validation Feedback: Passes Zod validation. API receives request, returns status 200, system flashes 'Department saved successfully' and AG Grid updates to show ISE row.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SYSTEM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Quality Assurance &amp; Form Validation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4389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B8A6"/>
                </a:solidFill>
                <a:latin typeface="Segoe UI"/>
              </a:defRPr>
            </a:pPr>
            <a:r>
              <a:t>MULTI-LAYERED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Client-Side Schema Validations: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  Zod acts as the primary schema guard. Forms cannot fire API requests unless input criteria match the schema constraints.</a:t>
            </a:r>
          </a:p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Dynamic Form Field Integration: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  DynamicFormBuilder.tsx translates Zod error objects automatically. Displays context-specific alerts without hardcoding.</a:t>
            </a:r>
          </a:p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Interceptor &amp; API Level Guarding: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  Backend constraints are filtered through Axios interceptors. Shows visual alerts if DB constraints are breached.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73152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VALIDATIONS DATA FLOW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7548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F8FAFC"/>
                </a:solidFill>
              </a:defRPr>
            </a:pPr>
            <a:r>
              <a:t>• Dynamic Form Submission Pipeline: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1. USER TRIGGER: User clicks 'Save' or 'Submit' on UI form.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2. SCHEMA EVALUATION: Zod validates values against constraints (regex, min length, email checks).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3. UI STATE SYNC: If invalid, React Hook Form populates the errors state; UI renders field warnings. API request is blocked.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4. API REQUEST: If valid, custom useAxios hook fires backend request.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5. SERVER VERIFICATION: DB executes checks (duplicate USN, active IDs).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6. RESPONSE ROUTING: Status 200 outputs a success toast; Status 400/500 intercepts and flashes Axios error toast.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Summary &amp; Operational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4389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4B8A6"/>
                </a:solidFill>
                <a:latin typeface="Segoe UI"/>
              </a:defRPr>
            </a:pPr>
            <a:r>
              <a:t>KEY OPERATIONAL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Enhanced Data Integrity: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  Zod validation schemas and checklist boundaries block bad entries (e.g. empty names, duplicate keys, reversed times) before they reach database storage.</a:t>
            </a:r>
          </a:p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Modular Form Engineering:</a:t>
            </a:r>
          </a:p>
          <a:p>
            <a:pPr>
              <a:spcAft>
                <a:spcPts val="1200"/>
              </a:spcAft>
              <a:defRPr sz="1200">
                <a:solidFill>
                  <a:srgbClr val="CBD5E1"/>
                </a:solidFill>
              </a:defRPr>
            </a:pPr>
            <a:r>
              <a:t>  Dynamic Form Builders map schema files dynamically, shrinking code duplication and centralizing field rules.</a:t>
            </a:r>
          </a:p>
          <a:p>
            <a:pPr>
              <a:spcAft>
                <a:spcPts val="400"/>
              </a:spcAft>
              <a:defRPr b="1" sz="1300">
                <a:solidFill>
                  <a:srgbClr val="F8FAFC"/>
                </a:solidFill>
              </a:defRPr>
            </a:pPr>
            <a:r>
              <a:t>• Complete Mentoring Traceability: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  Tracks configurations from mentor mappings down to questionnaire templates, sessions, attendance logs, and file records.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73152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IMPLEMENTATION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7548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F8FAFC"/>
                </a:solidFill>
              </a:defRPr>
            </a:pPr>
            <a:r>
              <a:t>• Production Status Summary:</a:t>
            </a:r>
          </a:p>
          <a:p>
            <a:pPr>
              <a:spcAft>
                <a:spcPts val="1600"/>
              </a:spcAft>
              <a:defRPr sz="1200">
                <a:solidFill>
                  <a:srgbClr val="CBD5E1"/>
                </a:solidFill>
              </a:defRPr>
            </a:pPr>
            <a:r>
              <a:t>  - Core Modules: Completed &amp; Configured (Main Routing active).</a:t>
            </a:r>
            <a:br/>
            <a:r>
              <a:t>  - Form Builder Schema bindings: Functional in production views.</a:t>
            </a:r>
            <a:br/>
            <a:r>
              <a:t>  - Zod Validations: Configured for Authentication &amp; EMS Department.</a:t>
            </a:r>
            <a:br/>
            <a:r>
              <a:t>  - Custom Validation Hooks: Fully active in mentoring setup page forms.</a:t>
            </a:r>
            <a:br/>
            <a:r>
              <a:t>  - UI Components: Tailored with Tailwind utility classes for dark themes.</a:t>
            </a:r>
          </a:p>
          <a:p>
            <a:pPr>
              <a:spcAft>
                <a:spcPts val="400"/>
              </a:spcAft>
              <a:defRPr sz="1200" b="1">
                <a:solidFill>
                  <a:srgbClr val="F8FAFC"/>
                </a:solidFill>
              </a:defRPr>
            </a:pPr>
            <a:r>
              <a:t>The IonERP platform successfully guarantees structural academic data mapping, automated validations, and clear UI error reporting to maintain clean institutional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